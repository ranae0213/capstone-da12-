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68" r:id="rId2"/>
    <p:sldId id="266" r:id="rId3"/>
    <p:sldId id="267" r:id="rId4"/>
    <p:sldId id="259" r:id="rId5"/>
    <p:sldId id="261" r:id="rId6"/>
    <p:sldId id="263" r:id="rId7"/>
    <p:sldId id="262" r:id="rId8"/>
    <p:sldId id="264" r:id="rId9"/>
    <p:sldId id="257" r:id="rId10"/>
    <p:sldId id="260" r:id="rId11"/>
    <p:sldId id="258" r:id="rId12"/>
    <p:sldId id="265" r:id="rId13"/>
    <p:sldId id="269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8" name="Rectangle 7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Oval 10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2" name="Oval 11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 rot="5400000">
            <a:off x="10089390" y="1792223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/>
                </a:solidFill>
              </a:defRPr>
            </a:lvl1pPr>
          </a:lstStyle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 rot="5400000">
            <a:off x="8959592" y="3226820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Rectangle 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1008" y="292608"/>
            <a:ext cx="838199" cy="767687"/>
          </a:xfrm>
        </p:spPr>
        <p:txBody>
          <a:bodyPr/>
          <a:lstStyle>
            <a:lvl1pPr>
              <a:defRPr sz="2800" b="0" i="0">
                <a:latin typeface="+mj-lt"/>
              </a:defRPr>
            </a:lvl1pPr>
          </a:lstStyle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96615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44619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677645"/>
            <a:ext cx="4351023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8" y="2677644"/>
            <a:ext cx="3755379" cy="2283823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323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85245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0" y="3179762"/>
            <a:ext cx="4825159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69286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7956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31113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295400"/>
            <a:ext cx="2793159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5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2895600"/>
            <a:ext cx="2793158" cy="312927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5" name="Rectangle 1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85397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Rectangle 7"/>
            <p:cNvSpPr/>
            <p:nvPr/>
          </p:nvSpPr>
          <p:spPr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693332"/>
            <a:ext cx="3860260" cy="173566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5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12343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8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9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966674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6" y="553666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76726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063416"/>
            <a:ext cx="8825659" cy="1379755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67587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5" name="Rectangle 1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4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6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3" name="TextBox 12"/>
          <p:cNvSpPr txBox="1"/>
          <p:nvPr/>
        </p:nvSpPr>
        <p:spPr>
          <a:xfrm>
            <a:off x="9719438" y="2631815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/>
              <a:t>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8295" y="591093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9600" dirty="0"/>
              <a:t>“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0517"/>
            <a:ext cx="8453906" cy="2698249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25772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2" name="Rectangle 3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19697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0" name="Rectangle 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33068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0155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17299"/>
            <a:ext cx="312916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4" y="3193561"/>
            <a:ext cx="3129168" cy="283349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2"/>
            <a:ext cx="31453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93561"/>
            <a:ext cx="3145380" cy="283349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6700" y="2617299"/>
            <a:ext cx="3161029" cy="576261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6700" y="3193561"/>
            <a:ext cx="3164719" cy="28334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1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977986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2" y="4532845"/>
            <a:ext cx="30504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2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3" y="5109107"/>
            <a:ext cx="3050437" cy="91794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537" y="4532846"/>
            <a:ext cx="3046766" cy="651156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3" y="2603500"/>
            <a:ext cx="2691241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8865" y="5184002"/>
            <a:ext cx="3050438" cy="84305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3434" y="4532847"/>
            <a:ext cx="3050438" cy="65115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3434" y="5184001"/>
            <a:ext cx="3050437" cy="843054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388153" y="2603500"/>
            <a:ext cx="0" cy="3517594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801905" y="2603500"/>
            <a:ext cx="0" cy="34925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3856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973668"/>
            <a:ext cx="8825660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7320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Rectangle 7"/>
            <p:cNvSpPr/>
            <p:nvPr/>
          </p:nvSpPr>
          <p:spPr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9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76756" y="1278468"/>
            <a:ext cx="1413933" cy="4748589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8"/>
            <a:ext cx="6247546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0049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26" name="Rectangle 2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20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21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3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2603500"/>
            <a:ext cx="8761412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0938" y="639406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40C403C7-7DDB-4561-ADAD-4716E883582D}" type="datetimeFigureOut">
              <a:rPr lang="en-US" smtClean="0"/>
              <a:t>10/17/2024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28358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 b="1" i="0">
                <a:solidFill>
                  <a:schemeClr val="accent1"/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22" name="Rectangle 2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  <a:latin typeface="+mn-lt"/>
              </a:defRPr>
            </a:lvl1pPr>
          </a:lstStyle>
          <a:p>
            <a:fld id="{E4CF66AD-59BE-4117-BCA7-EAE093B2F5A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01286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app.powerbi.com/groups/me/reports/0820ee9b-76d1-4d34-8ff7-68cc3ab6be56/32f7badea256a1e9e90c?experience=power-bi" TargetMode="Externa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hyperlink" Target="https://app.powerbi.com/groups/me/reports/0820ee9b-76d1-4d34-8ff7-68cc3ab6be56/bc5a6a09878aabe15055?experience=power-bi" TargetMode="Externa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app.powerbi.com/groups/me/reports/0820ee9b-76d1-4d34-8ff7-68cc3ab6be56/32f7badea256a1e9e90c?experience=power-bi" TargetMode="Externa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app.powerbi.com/groups/me/reports/0820ee9b-76d1-4d34-8ff7-68cc3ab6be56/bc5a6a09878aabe15055?experience=power-bi" TargetMode="Externa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0820ee9b-76d1-4d34-8ff7-68cc3ab6be56/e74e35033512d8c9dbf4?experience=power-bi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app.powerbi.com/groups/me/reports/0820ee9b-76d1-4d34-8ff7-68cc3ab6be56/89d43b009a68fd064402?experience=power-bi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mailto:tiffanyconway@bonitz.com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Group 66">
            <a:extLst>
              <a:ext uri="{FF2B5EF4-FFF2-40B4-BE49-F238E27FC236}">
                <a16:creationId xmlns:a16="http://schemas.microsoft.com/office/drawing/2014/main" id="{5A992EA8-A2AE-480C-BFF9-7B1346439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F6F97DA-7406-453D-9AB4-28B0891BB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69" name="Oval 68">
              <a:extLst>
                <a:ext uri="{FF2B5EF4-FFF2-40B4-BE49-F238E27FC236}">
                  <a16:creationId xmlns:a16="http://schemas.microsoft.com/office/drawing/2014/main" id="{31D171A9-30C8-4156-8EAF-50888EBE7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C52A6C74-8DC4-4902-962C-0DAFD7F9B5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D34C65DE-5132-426E-9E92-81CB9EFF8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463FE9C4-150E-4C97-A21E-53B7CD261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F4DD7FA2-5B3A-4DD2-BA1A-735CC86BAA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74" name="Freeform 5">
              <a:extLst>
                <a:ext uri="{FF2B5EF4-FFF2-40B4-BE49-F238E27FC236}">
                  <a16:creationId xmlns:a16="http://schemas.microsoft.com/office/drawing/2014/main" id="{B11D6824-D097-439B-9956-5436E5111A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75" name="Rectangle 74">
            <a:extLst>
              <a:ext uri="{FF2B5EF4-FFF2-40B4-BE49-F238E27FC236}">
                <a16:creationId xmlns:a16="http://schemas.microsoft.com/office/drawing/2014/main" id="{5669AB50-4CAD-4D10-A09A-A0C01AF9E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A3387F2-0223-E680-03A9-098F0ADDD8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60773" y="1113062"/>
            <a:ext cx="3382297" cy="3281957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0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Music City Analysis by Building Permits </a:t>
            </a:r>
            <a:br>
              <a:rPr lang="en-US" sz="30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</a:br>
            <a:r>
              <a:rPr lang="en-US" sz="30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Tiffany Conway DA12 Capstone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EAF3D0B-3400-463D-7801-4C07482E59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t="6973" r="-1" b="-1"/>
          <a:stretch/>
        </p:blipFill>
        <p:spPr>
          <a:xfrm>
            <a:off x="1109763" y="1726876"/>
            <a:ext cx="6470907" cy="3401131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6910085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FAA4B-6D38-0608-AB12-530ABF6D0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A41B20-2F84-1D2B-4E4A-10308792F9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Motivations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902D065D-A9B2-49BD-38EC-2A54865FB8A4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4130" r="4130"/>
          <a:stretch/>
        </p:blipFill>
        <p:spPr>
          <a:xfrm>
            <a:off x="4748463" y="2682259"/>
            <a:ext cx="2691242" cy="1591510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2084F12-3162-E4BD-AB7F-0876CFCCB07D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Why are people moving to Nashville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 growth going to continue 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EEA4F68-6D2F-B645-46AB-D53FFBE92D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Construction Cost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22C15905-BB73-499C-6EE9-F90162EB117B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4071" b="4071"/>
          <a:stretch/>
        </p:blipFill>
        <p:spPr>
          <a:xfrm>
            <a:off x="8262679" y="2682259"/>
            <a:ext cx="2691241" cy="1591510"/>
          </a:xfr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327D20A-B095-421D-0D39-476264CD1357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Commercial and by each permit type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Residential and by each permit type 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F95B398-0912-DFE3-774E-6F6ADE8901C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Location of permits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53D729F6-1977-5F4A-19E2-37254125DB43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l="3527" r="3527"/>
          <a:stretch/>
        </p:blipFill>
        <p:spPr>
          <a:xfrm>
            <a:off x="1238080" y="2636185"/>
            <a:ext cx="2690813" cy="1592263"/>
          </a:xfrm>
        </p:spPr>
      </p:pic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DBEE3EBB-B17D-9EC3-65C7-B7DD4F8DB364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Commercial Building locations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Residential building locations</a:t>
            </a:r>
          </a:p>
        </p:txBody>
      </p:sp>
    </p:spTree>
    <p:extLst>
      <p:ext uri="{BB962C8B-B14F-4D97-AF65-F5344CB8AC3E}">
        <p14:creationId xmlns:p14="http://schemas.microsoft.com/office/powerpoint/2010/main" val="21695357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72A012-72CF-C309-5A5A-548A4701CE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9B9071-662A-C9BA-38E7-15C075CFBE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Growth 	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BA2881C9-150F-0AC9-13D1-9BB9794716AD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l="2563" r="2563"/>
          <a:stretch/>
        </p:blipFill>
        <p:spPr/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33F21B-9742-DACE-9128-9F2D35ABEB05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>
            <a:normAutofit fontScale="92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86 people daily average moving here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Nashville Projected to grow by 97.4% from 2022 to 2060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C455A69-7B3A-2FAC-6E68-0F01214EF4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Why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C2021BB6-21BC-66DF-F5D8-EAF914DBF704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13240" b="13240"/>
          <a:stretch/>
        </p:blipFill>
        <p:spPr/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3D709F3-F681-664B-547C-5E856E483C02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>
            <a:normAutofit fontScale="85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Diverse international cultures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Music, night life, Country music hall fame, Music City Center, African American  Museum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8FD4E4B-F33F-8312-8698-FA79B5A3394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Sports 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A54DDF7-27A8-31F7-FDF4-3C744E7A1963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983434" y="5184001"/>
            <a:ext cx="3050437" cy="1391366"/>
          </a:xfrm>
        </p:spPr>
        <p:txBody>
          <a:bodyPr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Predators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Titans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Soccer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Sounds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050" dirty="0"/>
              <a:t>Woman's Basketball coming soon </a:t>
            </a:r>
          </a:p>
        </p:txBody>
      </p:sp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A1694DE7-F895-75C1-F82F-9929BD55E35F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t="319" b="319"/>
          <a:stretch/>
        </p:blipFill>
        <p:spPr/>
      </p:pic>
    </p:spTree>
    <p:extLst>
      <p:ext uri="{BB962C8B-B14F-4D97-AF65-F5344CB8AC3E}">
        <p14:creationId xmlns:p14="http://schemas.microsoft.com/office/powerpoint/2010/main" val="916961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E856BD3-5279-6610-EAD4-647DB4610FF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1298" b="1946"/>
          <a:stretch/>
        </p:blipFill>
        <p:spPr>
          <a:xfrm>
            <a:off x="676656" y="2010922"/>
            <a:ext cx="5647944" cy="48470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6FA6478-5095-E880-B41A-6E2A797FB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31610" y="365125"/>
            <a:ext cx="3822189" cy="1899912"/>
          </a:xfrm>
        </p:spPr>
        <p:txBody>
          <a:bodyPr>
            <a:normAutofit/>
          </a:bodyPr>
          <a:lstStyle/>
          <a:p>
            <a:r>
              <a:rPr lang="en-US" sz="4000" dirty="0"/>
              <a:t>Change of Nashville 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E0BA1F27-7E3F-49B9-D22D-BB34ABDDBA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31610" y="2568633"/>
            <a:ext cx="3822189" cy="3608330"/>
          </a:xfrm>
        </p:spPr>
        <p:txBody>
          <a:bodyPr>
            <a:normAutofit lnSpcReduction="10000"/>
          </a:bodyPr>
          <a:lstStyle/>
          <a:p>
            <a:r>
              <a:rPr lang="en-US" sz="2000" dirty="0"/>
              <a:t>Skyline of 2015 verses skyline of 2024 </a:t>
            </a:r>
          </a:p>
          <a:p>
            <a:r>
              <a:rPr lang="en-US" sz="2000" dirty="0"/>
              <a:t>Population continually increasing and with that must build homes to put the new residences  </a:t>
            </a:r>
          </a:p>
          <a:p>
            <a:r>
              <a:rPr lang="en-US" sz="2000" dirty="0"/>
              <a:t>Headquarters in Nashville include Amazon, Oracle, HCA, Community Health Services, Sony, Vanderbilt, and many more </a:t>
            </a:r>
          </a:p>
        </p:txBody>
      </p:sp>
    </p:spTree>
    <p:extLst>
      <p:ext uri="{BB962C8B-B14F-4D97-AF65-F5344CB8AC3E}">
        <p14:creationId xmlns:p14="http://schemas.microsoft.com/office/powerpoint/2010/main" val="2707536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D9851-0503-2ED6-94B9-4770B0BB2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Construction costs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F4A769-EE30-D1CE-4531-2C899ABEC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Commercial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D7DD9-2DC4-CD1A-8B97-5F8AB6037F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Total Construction costs over all permits 916.97 million  </a:t>
            </a:r>
          </a:p>
          <a:p>
            <a:pPr>
              <a:buFontTx/>
              <a:buChar char="-"/>
            </a:pPr>
            <a:r>
              <a:rPr lang="en-US" dirty="0"/>
              <a:t>2021 12.19%, $111,796,047</a:t>
            </a:r>
          </a:p>
          <a:p>
            <a:pPr>
              <a:buFontTx/>
              <a:buChar char="-"/>
            </a:pPr>
            <a:r>
              <a:rPr lang="en-US" dirty="0"/>
              <a:t>2022 28.96%, $265,535,304</a:t>
            </a:r>
          </a:p>
          <a:p>
            <a:pPr>
              <a:buFontTx/>
              <a:buChar char="-"/>
            </a:pPr>
            <a:r>
              <a:rPr lang="en-US" dirty="0"/>
              <a:t>2023 40.67% , $372,973,821</a:t>
            </a:r>
          </a:p>
          <a:p>
            <a:pPr>
              <a:buFontTx/>
              <a:buChar char="-"/>
            </a:pPr>
            <a:r>
              <a:rPr lang="en-US" dirty="0"/>
              <a:t>2024 18.18%, $166,664,089</a:t>
            </a:r>
          </a:p>
          <a:p>
            <a:pPr>
              <a:buFontTx/>
              <a:buChar char="-"/>
            </a:pPr>
            <a:r>
              <a:rPr lang="en-US" dirty="0">
                <a:hlinkClick r:id="rId2"/>
              </a:rPr>
              <a:t>Permits Power BI - Power BI</a:t>
            </a: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00000E8-4297-9118-D4DD-5BBE0C2851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67" y="1069675"/>
            <a:ext cx="5925334" cy="4779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3711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E152F4-A130-3FCC-7D5D-77AC19B55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Commercial Permits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E46EC0-7388-4613-9DB0-C8AB0BD4ED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54953" y="2519576"/>
            <a:ext cx="4227752" cy="3796384"/>
          </a:xfrm>
        </p:spPr>
        <p:txBody>
          <a:bodyPr/>
          <a:lstStyle/>
          <a:p>
            <a:r>
              <a:rPr lang="en-US" dirty="0"/>
              <a:t>Building Commercial Shell is 53.10% </a:t>
            </a:r>
          </a:p>
          <a:p>
            <a:r>
              <a:rPr lang="en-US" dirty="0"/>
              <a:t>Building New makes up 17.94% </a:t>
            </a:r>
          </a:p>
          <a:p>
            <a:r>
              <a:rPr lang="en-US" dirty="0"/>
              <a:t>Building Addition make up 11.85% </a:t>
            </a:r>
          </a:p>
          <a:p>
            <a:r>
              <a:rPr lang="en-US" dirty="0"/>
              <a:t>Building Tenant Finish Out makes up 6.92% </a:t>
            </a:r>
          </a:p>
          <a:p>
            <a:r>
              <a:rPr lang="en-US" dirty="0">
                <a:hlinkClick r:id="rId2"/>
              </a:rPr>
              <a:t>Permits Power BI - Power BI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FA78957-4050-E4A8-26D0-8859D6F446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6011" y="2446129"/>
            <a:ext cx="5470043" cy="41640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28675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D9851-0503-2ED6-94B9-4770B0BB20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Construction costs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FF4A769-EE30-D1CE-4531-2C899ABEC9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Residential construction costs 	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FD7DD9-2DC4-CD1A-8B97-5F8AB6037F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Total Construction costs over all permits 730.75 million </a:t>
            </a:r>
          </a:p>
          <a:p>
            <a:r>
              <a:rPr lang="en-US" dirty="0"/>
              <a:t>2021 5.39%, $39,375,896</a:t>
            </a:r>
          </a:p>
          <a:p>
            <a:r>
              <a:rPr lang="en-US" dirty="0"/>
              <a:t>2022 28.73%, $209,957,129</a:t>
            </a:r>
          </a:p>
          <a:p>
            <a:r>
              <a:rPr lang="en-US" dirty="0"/>
              <a:t>2023 27.45%, $200,593,327</a:t>
            </a:r>
          </a:p>
          <a:p>
            <a:r>
              <a:rPr lang="en-US" dirty="0"/>
              <a:t>2024 38.43%, $280,825,377</a:t>
            </a:r>
          </a:p>
          <a:p>
            <a:r>
              <a:rPr lang="en-US" dirty="0">
                <a:hlinkClick r:id="rId2"/>
              </a:rPr>
              <a:t>Permits Power BI - Power BI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F371409-9683-B184-6528-D65711E873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2602" y="1615787"/>
            <a:ext cx="4851946" cy="4573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1180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DFB09-0AC9-3409-8673-F39F0FA68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Residential Permit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82D0A0-755A-963A-79DE-79D11F939F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96696" y="2430011"/>
            <a:ext cx="3282696" cy="13501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Building New Residential 77.59% of the building in the permit types </a:t>
            </a:r>
          </a:p>
          <a:p>
            <a:pPr marL="0" indent="0">
              <a:buNone/>
            </a:pPr>
            <a:r>
              <a:rPr lang="en-US" dirty="0">
                <a:hlinkClick r:id="rId2"/>
              </a:rPr>
              <a:t>Permits Power BI - Power BI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936F02F-6D59-76C3-F430-6730DF273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2493" y="2403835"/>
            <a:ext cx="5784769" cy="445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7498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5A992EA8-A2AE-480C-BFF9-7B1346439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0F6F97DA-7406-453D-9AB4-28B0891BBF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31D171A9-30C8-4156-8EAF-50888EBE77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C52A6C74-8DC4-4902-962C-0DAFD7F9B5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D34C65DE-5132-426E-9E92-81CB9EFF89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463FE9C4-150E-4C97-A21E-53B7CD261A1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F4DD7FA2-5B3A-4DD2-BA1A-735CC86BAA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6" name="Freeform 5">
              <a:extLst>
                <a:ext uri="{FF2B5EF4-FFF2-40B4-BE49-F238E27FC236}">
                  <a16:creationId xmlns:a16="http://schemas.microsoft.com/office/drawing/2014/main" id="{B11D6824-D097-439B-9956-5436E5111A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6" name="Rectangle 35">
            <a:extLst>
              <a:ext uri="{FF2B5EF4-FFF2-40B4-BE49-F238E27FC236}">
                <a16:creationId xmlns:a16="http://schemas.microsoft.com/office/drawing/2014/main" id="{5669AB50-4CAD-4D10-A09A-A0C01AF9E6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64889F3-E16C-447A-EC4F-418F9897D5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55" y="1241266"/>
            <a:ext cx="3161016" cy="3153753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34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Commercial Permits pulled from 8/21 to 8/24 </a:t>
            </a:r>
            <a:r>
              <a:rPr lang="en-US" sz="3400" b="0" i="0" kern="1200" dirty="0">
                <a:solidFill>
                  <a:schemeClr val="bg2"/>
                </a:solidFill>
                <a:latin typeface="+mj-lt"/>
                <a:ea typeface="+mj-ea"/>
                <a:cs typeface="+mj-cs"/>
                <a:hlinkClick r:id="rId3"/>
              </a:rPr>
              <a:t>Permits Power BI - Power BI</a:t>
            </a:r>
            <a:endParaRPr lang="en-US" sz="3400" b="0" i="0" kern="1200" dirty="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8B27BBA-AE99-4D00-A26E-0B49DA4B37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23332" y="396837"/>
            <a:ext cx="7906665" cy="6058999"/>
            <a:chOff x="423332" y="396837"/>
            <a:chExt cx="7906665" cy="6058999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E898DFFC-9C98-4276-B117-1EECD56D16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flipH="1">
              <a:off x="423332" y="402165"/>
              <a:ext cx="678513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52" name="Freeform 5">
              <a:extLst>
                <a:ext uri="{FF2B5EF4-FFF2-40B4-BE49-F238E27FC236}">
                  <a16:creationId xmlns:a16="http://schemas.microsoft.com/office/drawing/2014/main" id="{D9DF6785-2B9D-478C-AB08-3A6258EF7C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400000" flipH="1">
              <a:off x="4616676" y="2801722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3" name="Freeform 5">
              <a:extLst>
                <a:ext uri="{FF2B5EF4-FFF2-40B4-BE49-F238E27FC236}">
                  <a16:creationId xmlns:a16="http://schemas.microsoft.com/office/drawing/2014/main" id="{A9C1FA5F-1069-410C-ACE0-A24989171C5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5677511" flipH="1">
              <a:off x="6459831" y="1826079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9AB7A661-60F1-3CEF-3545-2E7A347D0E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786" y="1143000"/>
            <a:ext cx="7025144" cy="45092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9383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DD029FC-684F-483A-A8BD-1F092BFFB7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EF3C96DD-C9B2-4B53-AEC5-8CB276D3C71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662F19CA-71D7-45F5-9123-CA712C5281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3886C2A0-05BA-4243-B351-00C64563A2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CC87CEB4-8F81-455D-A076-159940550D7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BC9FC7F0-1AE4-4459-B8F2-219D7598B9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DD48B9DA-44B2-4334-96CF-D089EFEC9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3" name="Freeform 5">
              <a:extLst>
                <a:ext uri="{FF2B5EF4-FFF2-40B4-BE49-F238E27FC236}">
                  <a16:creationId xmlns:a16="http://schemas.microsoft.com/office/drawing/2014/main" id="{79089964-B99F-487E-840E-FD3D7E88CC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4" name="Freeform 5">
              <a:extLst>
                <a:ext uri="{FF2B5EF4-FFF2-40B4-BE49-F238E27FC236}">
                  <a16:creationId xmlns:a16="http://schemas.microsoft.com/office/drawing/2014/main" id="{EC4611E9-9EAD-44EF-967C-9F3F3066D0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5" name="Freeform 5">
              <a:extLst>
                <a:ext uri="{FF2B5EF4-FFF2-40B4-BE49-F238E27FC236}">
                  <a16:creationId xmlns:a16="http://schemas.microsoft.com/office/drawing/2014/main" id="{5916A076-E219-44E3-8EB5-1C04EFCD17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D764F0A0-D07C-4159-9427-D25058257D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53BC003-D6B7-4BF0-937D-4A015F6DEB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9027"/>
            <a:ext cx="12192000" cy="6867027"/>
            <a:chOff x="0" y="-2373"/>
            <a:chExt cx="12192000" cy="6867027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903268C-2C5A-4507-9244-86102327B7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39F7113-C588-46FB-ADDE-55CEC59814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B6481A55-E6DE-4B8B-9847-0230D12F7E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052FD8DB-2F6F-462A-9BF4-1E26C93321C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BE52543D-8290-40DE-990A-27CC1992A3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ECC693B-FBF3-45DD-849C-AC1B1B2905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56515BC8-A1CA-4EB4-81D8-6A891458F7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94608" y="402165"/>
              <a:ext cx="6574058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47" name="Freeform 5">
              <a:extLst>
                <a:ext uri="{FF2B5EF4-FFF2-40B4-BE49-F238E27FC236}">
                  <a16:creationId xmlns:a16="http://schemas.microsoft.com/office/drawing/2014/main" id="{ED9E2ADE-2C74-4E7D-8701-6AE23ABD4D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8" name="Freeform 5">
              <a:extLst>
                <a:ext uri="{FF2B5EF4-FFF2-40B4-BE49-F238E27FC236}">
                  <a16:creationId xmlns:a16="http://schemas.microsoft.com/office/drawing/2014/main" id="{B7EBD6DC-7188-4268-9886-6535F41A67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49" name="Freeform 5">
              <a:extLst>
                <a:ext uri="{FF2B5EF4-FFF2-40B4-BE49-F238E27FC236}">
                  <a16:creationId xmlns:a16="http://schemas.microsoft.com/office/drawing/2014/main" id="{493CCA32-0C37-4525-8FFC-D62C5EEFBE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0E8DEABF-BA3E-1865-4548-7A26FF266570}"/>
              </a:ext>
            </a:extLst>
          </p:cNvPr>
          <p:cNvSpPr txBox="1"/>
          <p:nvPr/>
        </p:nvSpPr>
        <p:spPr>
          <a:xfrm>
            <a:off x="1154955" y="2120900"/>
            <a:ext cx="3133726" cy="38989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1000"/>
              </a:spcBef>
              <a:buClr>
                <a:schemeClr val="accent1"/>
              </a:buClr>
              <a:buSzPct val="80000"/>
              <a:buFont typeface="Wingdings 3" charset="2"/>
              <a:buChar char=""/>
            </a:pPr>
            <a:r>
              <a:rPr lang="en-US" dirty="0">
                <a:solidFill>
                  <a:schemeClr val="bg1"/>
                </a:solidFill>
              </a:rPr>
              <a:t>Residential Permits pulled 8/21 to 8/24 </a:t>
            </a:r>
            <a:r>
              <a:rPr lang="en-US" dirty="0">
                <a:solidFill>
                  <a:schemeClr val="bg1"/>
                </a:solidFill>
                <a:hlinkClick r:id="rId3"/>
              </a:rPr>
              <a:t>Permits Power BI - Power BI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98B365E-9D22-0ED3-1999-21354DF01A1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008" r="1681" b="-1"/>
          <a:stretch/>
        </p:blipFill>
        <p:spPr>
          <a:xfrm>
            <a:off x="5194607" y="1173105"/>
            <a:ext cx="6391533" cy="4511790"/>
          </a:xfrm>
          <a:prstGeom prst="rect">
            <a:avLst/>
          </a:prstGeom>
        </p:spPr>
      </p:pic>
      <p:sp>
        <p:nvSpPr>
          <p:cNvPr id="51" name="Rectangle 50">
            <a:extLst>
              <a:ext uri="{FF2B5EF4-FFF2-40B4-BE49-F238E27FC236}">
                <a16:creationId xmlns:a16="http://schemas.microsoft.com/office/drawing/2014/main" id="{5014FF2D-4863-43AA-82A7-958E9F743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50809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AE3E5-3650-E652-D1F8-FE84A60B7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Permit Types 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AB701E-2E66-05B5-2849-4339E2E92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Commercial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0B29D1-C122-7274-8657-ACEC7B53A02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CACA = Building Commercial Addition</a:t>
            </a:r>
          </a:p>
          <a:p>
            <a:r>
              <a:rPr lang="en-US" dirty="0"/>
              <a:t>CACF = Building Commercial Foundation</a:t>
            </a:r>
          </a:p>
          <a:p>
            <a:r>
              <a:rPr lang="en-US" dirty="0"/>
              <a:t>CACG =Building Commercial Structural Frame,    </a:t>
            </a:r>
          </a:p>
          <a:p>
            <a:r>
              <a:rPr lang="en-US" dirty="0"/>
              <a:t>CACH= Building Commercial Shell   </a:t>
            </a:r>
          </a:p>
          <a:p>
            <a:r>
              <a:rPr lang="en-US" dirty="0"/>
              <a:t>CACJ = Building Commercial Fire Damage </a:t>
            </a:r>
          </a:p>
          <a:p>
            <a:r>
              <a:rPr lang="en-US" dirty="0"/>
              <a:t>CACK =Building Commercial Roofing/Siding</a:t>
            </a:r>
          </a:p>
          <a:p>
            <a:r>
              <a:rPr lang="en-US" dirty="0"/>
              <a:t>CACL= Building Commercial Rehab Storm Damage </a:t>
            </a:r>
          </a:p>
          <a:p>
            <a:r>
              <a:rPr lang="en-US" dirty="0"/>
              <a:t>CACN=Building Commercial New</a:t>
            </a:r>
          </a:p>
          <a:p>
            <a:r>
              <a:rPr lang="en-US" dirty="0"/>
              <a:t>CACR=Building Commercial Rehab </a:t>
            </a:r>
          </a:p>
          <a:p>
            <a:r>
              <a:rPr lang="en-US" dirty="0"/>
              <a:t>CACS=Building Commercial New Storm Damage </a:t>
            </a:r>
          </a:p>
          <a:p>
            <a:r>
              <a:rPr lang="en-US" dirty="0"/>
              <a:t>CACT=Building Commercial Tenant Finish Out </a:t>
            </a:r>
          </a:p>
          <a:p>
            <a:r>
              <a:rPr lang="en-US" dirty="0"/>
              <a:t>CACP=Building Commercial Change of Contractor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F0F5498-00C4-5C6A-9BCA-B518FAF31F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Residential 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01E0B7-BAEB-FCF5-473C-3B74A6BEC0B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47500" lnSpcReduction="20000"/>
          </a:bodyPr>
          <a:lstStyle/>
          <a:p>
            <a:r>
              <a:rPr lang="en-US" dirty="0"/>
              <a:t>CARA= Building Residential Addition</a:t>
            </a:r>
          </a:p>
          <a:p>
            <a:r>
              <a:rPr lang="en-US" dirty="0"/>
              <a:t>CARE= Building Residential Amend Permit</a:t>
            </a:r>
          </a:p>
          <a:p>
            <a:r>
              <a:rPr lang="en-US" dirty="0"/>
              <a:t>CARF=Building Residential Foundation</a:t>
            </a:r>
          </a:p>
          <a:p>
            <a:r>
              <a:rPr lang="en-US" dirty="0"/>
              <a:t>CARK=Building Residential Roofing/Siding</a:t>
            </a:r>
          </a:p>
          <a:p>
            <a:r>
              <a:rPr lang="en-US" dirty="0"/>
              <a:t>CARL= Building Residential Rehab Storm Damage  </a:t>
            </a:r>
          </a:p>
          <a:p>
            <a:r>
              <a:rPr lang="en-US" dirty="0"/>
              <a:t>CARN=Building Residential New</a:t>
            </a:r>
          </a:p>
          <a:p>
            <a:r>
              <a:rPr lang="en-US" dirty="0"/>
              <a:t>CARR=Building Residential Rehab</a:t>
            </a:r>
          </a:p>
          <a:p>
            <a:r>
              <a:rPr lang="en-US" dirty="0"/>
              <a:t>CARS=Building Residential New Storm Damage</a:t>
            </a:r>
          </a:p>
          <a:p>
            <a:r>
              <a:rPr lang="en-US" dirty="0"/>
              <a:t>CART=Building Residential Tenant Finish Out</a:t>
            </a:r>
          </a:p>
          <a:p>
            <a:r>
              <a:rPr lang="en-US" dirty="0"/>
              <a:t>CARP=Building Residential Change of Contractor</a:t>
            </a:r>
          </a:p>
        </p:txBody>
      </p:sp>
    </p:spTree>
    <p:extLst>
      <p:ext uri="{BB962C8B-B14F-4D97-AF65-F5344CB8AC3E}">
        <p14:creationId xmlns:p14="http://schemas.microsoft.com/office/powerpoint/2010/main" val="8641834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2FDDF-D72D-901B-DE95-77CAF2C76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	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DB6AC4-E549-D7D4-DAC6-AC694E83EC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Commercial 	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4F9D18-E200-28DC-2963-BA08CC0622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US" dirty="0"/>
              <a:t>Residential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7A43AE9-724D-22EA-023F-2D6968CF89A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Growth 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37A9E307-88B0-7629-526A-1F0B6216DE73}"/>
              </a:ext>
            </a:extLst>
          </p:cNvPr>
          <p:cNvPicPr>
            <a:picLocks noGrp="1" noChangeAspect="1"/>
          </p:cNvPicPr>
          <p:nvPr>
            <p:ph type="pic" idx="15"/>
          </p:nvPr>
        </p:nvPicPr>
        <p:blipFill>
          <a:blip r:embed="rId2"/>
          <a:srcRect t="3605" b="3605"/>
          <a:stretch/>
        </p:blipFill>
        <p:spPr/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82FB97C-066C-2F86-4FCA-58701BEAE822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n-US" dirty="0"/>
              <a:t>916.97 million over 4 year span 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5AD3689-4D6E-EBE5-2496-224E1A42C260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r>
              <a:rPr lang="en-US" dirty="0"/>
              <a:t>Total Construction costs over all permits 730.75 million </a:t>
            </a:r>
          </a:p>
          <a:p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72C2451-7AE8-620C-D348-73D241EFB2F0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r>
              <a:rPr lang="en-US" dirty="0"/>
              <a:t>Career path will stay the same as well confirmed that want to be apart of the growth in music city 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1E90D9BD-D377-CF7B-2706-AF2253810EAB}"/>
              </a:ext>
            </a:extLst>
          </p:cNvPr>
          <p:cNvPicPr>
            <a:picLocks noGrp="1" noChangeAspect="1"/>
          </p:cNvPicPr>
          <p:nvPr>
            <p:ph type="pic" idx="21"/>
          </p:nvPr>
        </p:nvPicPr>
        <p:blipFill>
          <a:blip r:embed="rId3"/>
          <a:srcRect t="5934" b="5934"/>
          <a:stretch/>
        </p:blipFill>
        <p:spPr/>
      </p:pic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0CCF8C15-367D-86B1-F994-B80759392D6E}"/>
              </a:ext>
            </a:extLst>
          </p:cNvPr>
          <p:cNvPicPr>
            <a:picLocks noGrp="1" noChangeAspect="1"/>
          </p:cNvPicPr>
          <p:nvPr>
            <p:ph type="pic" idx="22"/>
          </p:nvPr>
        </p:nvPicPr>
        <p:blipFill>
          <a:blip r:embed="rId4"/>
          <a:srcRect l="2814" r="2814"/>
          <a:stretch/>
        </p:blipFill>
        <p:spPr/>
      </p:pic>
    </p:spTree>
    <p:extLst>
      <p:ext uri="{BB962C8B-B14F-4D97-AF65-F5344CB8AC3E}">
        <p14:creationId xmlns:p14="http://schemas.microsoft.com/office/powerpoint/2010/main" val="39956785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65779281-7937-47A5-9678-B6FDAD972A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2373"/>
            <a:ext cx="12192000" cy="6867027"/>
            <a:chOff x="0" y="-2373"/>
            <a:chExt cx="12192000" cy="6867027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C6A5F94-EA1E-47C7-A6EE-BBF381891F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2000"/>
                    <a:hueMod val="108000"/>
                    <a:satMod val="164000"/>
                    <a:lumMod val="69000"/>
                  </a:schemeClr>
                  <a:schemeClr val="dk2">
                    <a:tint val="96000"/>
                    <a:hueMod val="90000"/>
                    <a:satMod val="130000"/>
                    <a:lumMod val="134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A45E2F18-3105-4F3B-99FD-83B4793DA3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2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1000"/>
                  </a:schemeClr>
                </a:gs>
                <a:gs pos="75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1381AF66-114C-4563-B095-288F42CCBD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75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8000"/>
                  </a:schemeClr>
                </a:gs>
                <a:gs pos="72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747F9408-6CFC-4676-AD20-F02C796EB6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7000"/>
                  </a:schemeClr>
                </a:gs>
                <a:gs pos="69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A7ADB05A-D37F-413A-B91E-5BB1FF6289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99412" y="-2373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73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654F3E1-5DC0-4E84-B666-997F05FA07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8609012" y="5874054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bg2">
                    <a:lumMod val="40000"/>
                    <a:lumOff val="60000"/>
                    <a:alpha val="14000"/>
                  </a:schemeClr>
                </a:gs>
                <a:gs pos="66000">
                  <a:schemeClr val="bg2">
                    <a:lumMod val="40000"/>
                    <a:lumOff val="60000"/>
                    <a:alpha val="0"/>
                  </a:schemeClr>
                </a:gs>
                <a:gs pos="36000">
                  <a:schemeClr val="bg2">
                    <a:lumMod val="40000"/>
                    <a:lumOff val="60000"/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25" name="Freeform 5">
              <a:extLst>
                <a:ext uri="{FF2B5EF4-FFF2-40B4-BE49-F238E27FC236}">
                  <a16:creationId xmlns:a16="http://schemas.microsoft.com/office/drawing/2014/main" id="{6705C03F-F9C3-432E-8D6A-7396A5D232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A9832115-0F55-42D3-9A09-385BD837DD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27" name="Freeform 5">
              <a:extLst>
                <a:ext uri="{FF2B5EF4-FFF2-40B4-BE49-F238E27FC236}">
                  <a16:creationId xmlns:a16="http://schemas.microsoft.com/office/drawing/2014/main" id="{E7DA4E2E-EF02-4DA8-B2D4-458977719B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4E7CA534-C00D-4395-B324-C66C955E53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 dirty="0"/>
          </a:p>
        </p:txBody>
      </p:sp>
      <p:sp useBgFill="1">
        <p:nvSpPr>
          <p:cNvPr id="31" name="Rectangle 30">
            <a:extLst>
              <a:ext uri="{FF2B5EF4-FFF2-40B4-BE49-F238E27FC236}">
                <a16:creationId xmlns:a16="http://schemas.microsoft.com/office/drawing/2014/main" id="{C314C310-850D-4491-AA52-C75BEA68B6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33" name="Group 32">
            <a:extLst>
              <a:ext uri="{FF2B5EF4-FFF2-40B4-BE49-F238E27FC236}">
                <a16:creationId xmlns:a16="http://schemas.microsoft.com/office/drawing/2014/main" id="{D4EC3799-3F52-48CE-85CC-83AED368EB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F3FC2939-BF10-4CBC-904B-74A17D4B9C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2192000" cy="6858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35" name="Freeform 5">
              <a:extLst>
                <a:ext uri="{FF2B5EF4-FFF2-40B4-BE49-F238E27FC236}">
                  <a16:creationId xmlns:a16="http://schemas.microsoft.com/office/drawing/2014/main" id="{266B6D5D-11B6-40A6-9CEF-F0B0D104C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2" name="Title 11">
            <a:extLst>
              <a:ext uri="{FF2B5EF4-FFF2-40B4-BE49-F238E27FC236}">
                <a16:creationId xmlns:a16="http://schemas.microsoft.com/office/drawing/2014/main" id="{8FC87FE3-3813-AB7B-9B93-C7BD329BE5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6247" y="1085549"/>
            <a:ext cx="343094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3600" dirty="0">
                <a:solidFill>
                  <a:schemeClr val="tx1"/>
                </a:solidFill>
              </a:rPr>
              <a:t>Questions 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89E20C7-BB50-4317-93C7-90C8ED80B2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930986"/>
            <a:ext cx="0" cy="3200400"/>
          </a:xfrm>
          <a:prstGeom prst="line">
            <a:avLst/>
          </a:prstGeom>
          <a:ln w="15875" cap="sq">
            <a:solidFill>
              <a:schemeClr val="tx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A3066262-68CA-1C83-3B2E-E9E3DFA3BE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041399" y="1085549"/>
            <a:ext cx="5579707" cy="468690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Thank you for your time, I am so ever grateful that I have the opportunity in front of me that just was given to continue in my passion of construction. Still hope one day I can be drive to make it to be recognized on National Women in Construction.  For any of your flooring needs please feel free to reach out to me. </a:t>
            </a:r>
            <a:r>
              <a:rPr lang="en-US" dirty="0">
                <a:solidFill>
                  <a:schemeClr val="tx1"/>
                </a:solidFill>
                <a:hlinkClick r:id="rId3"/>
              </a:rPr>
              <a:t>tiffanyconway@bonitz.com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Tiffany Conway </a:t>
            </a: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Project Manager </a:t>
            </a:r>
          </a:p>
          <a:p>
            <a:pPr>
              <a:buFont typeface="Wingdings 3" charset="2"/>
              <a:buChar char=""/>
            </a:pPr>
            <a:r>
              <a:rPr lang="en-US" dirty="0">
                <a:solidFill>
                  <a:schemeClr val="tx1"/>
                </a:solidFill>
              </a:rPr>
              <a:t>Bonitz, INC </a:t>
            </a:r>
          </a:p>
        </p:txBody>
      </p:sp>
      <p:sp>
        <p:nvSpPr>
          <p:cNvPr id="39" name="Footer Placeholder 4">
            <a:extLst>
              <a:ext uri="{FF2B5EF4-FFF2-40B4-BE49-F238E27FC236}">
                <a16:creationId xmlns:a16="http://schemas.microsoft.com/office/drawing/2014/main" id="{0308D749-5984-4BB8-A788-A85D24304A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b="0" i="0" kern="1200">
                <a:solidFill>
                  <a:schemeClr val="bg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b="1" dirty="0">
              <a:solidFill>
                <a:srgbClr val="B31166"/>
              </a:solidFill>
            </a:endParaRPr>
          </a:p>
        </p:txBody>
      </p:sp>
      <p:sp>
        <p:nvSpPr>
          <p:cNvPr id="41" name="Date Placeholder 3">
            <a:extLst>
              <a:ext uri="{FF2B5EF4-FFF2-40B4-BE49-F238E27FC236}">
                <a16:creationId xmlns:a16="http://schemas.microsoft.com/office/drawing/2014/main" id="{95B8172D-A4C8-41B4-8991-78BBEC4039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gray">
          <a:xfrm>
            <a:off x="7718854" y="6391839"/>
            <a:ext cx="2997637" cy="30479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defPPr>
              <a:defRPr lang="en-US"/>
            </a:defPPr>
            <a:lvl1pPr marL="0" algn="l" defTabSz="457200" rtl="0" eaLnBrk="1" latinLnBrk="0" hangingPunct="1">
              <a:defRPr sz="1000" b="0" i="0" kern="1200">
                <a:solidFill>
                  <a:schemeClr val="bg1">
                    <a:alpha val="6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endParaRPr lang="en-US" b="1" dirty="0">
              <a:solidFill>
                <a:srgbClr val="B31166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056639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A3AB87EF-B655-4FFF-8D05-F333AD7F27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6276</TotalTime>
  <Words>558</Words>
  <Application>Microsoft Office PowerPoint</Application>
  <PresentationFormat>Widescreen</PresentationFormat>
  <Paragraphs>92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Century Gothic</vt:lpstr>
      <vt:lpstr>Wingdings 3</vt:lpstr>
      <vt:lpstr>Ion Boardroom</vt:lpstr>
      <vt:lpstr>Music City Analysis by Building Permits  Tiffany Conway DA12 Capstone</vt:lpstr>
      <vt:lpstr>Project Overview </vt:lpstr>
      <vt:lpstr>Motivations </vt:lpstr>
      <vt:lpstr>Change of Nashville </vt:lpstr>
      <vt:lpstr>Construction costs </vt:lpstr>
      <vt:lpstr>Commercial Permits </vt:lpstr>
      <vt:lpstr>Construction costs </vt:lpstr>
      <vt:lpstr>Residential Permit </vt:lpstr>
      <vt:lpstr>Commercial Permits pulled from 8/21 to 8/24 Permits Power BI - Power BI</vt:lpstr>
      <vt:lpstr>PowerPoint Presentation</vt:lpstr>
      <vt:lpstr>Permit Types </vt:lpstr>
      <vt:lpstr>Recap </vt:lpstr>
      <vt:lpstr>Questions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Tiffany Conway</dc:creator>
  <cp:lastModifiedBy>Tiffany Conway</cp:lastModifiedBy>
  <cp:revision>18</cp:revision>
  <dcterms:created xsi:type="dcterms:W3CDTF">2024-10-12T15:52:22Z</dcterms:created>
  <dcterms:modified xsi:type="dcterms:W3CDTF">2024-10-22T01:11:43Z</dcterms:modified>
</cp:coreProperties>
</file>